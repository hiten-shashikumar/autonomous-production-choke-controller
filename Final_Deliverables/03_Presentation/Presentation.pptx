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7" r:id="rId2"/>
    <p:sldId id="298" r:id="rId3"/>
    <p:sldId id="281" r:id="rId4"/>
    <p:sldId id="290" r:id="rId5"/>
    <p:sldId id="293" r:id="rId6"/>
    <p:sldId id="299" r:id="rId7"/>
    <p:sldId id="296" r:id="rId8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/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sz="1100">
                <a:solidFill>
                  <a:srgbClr val="1A1A2E"/>
                </a:solidFill>
              </a:rPr>
              <a:t>PROJECT AGENDA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r>
              <a:rPr sz="1100">
                <a:solidFill>
                  <a:srgbClr val="1A1A2E"/>
                </a:solidFill>
              </a:rPr>
              <a:t>Problem Statement &amp; Industrial Background</a:t>
            </a:r>
          </a:p>
          <a:p>
            <a:r>
              <a:rPr sz="1100">
                <a:solidFill>
                  <a:srgbClr val="1A1A2E"/>
                </a:solidFill>
              </a:rPr>
              <a:t>Process Understanding &amp; Dynamic Model</a:t>
            </a:r>
          </a:p>
          <a:p>
            <a:r>
              <a:rPr sz="1100">
                <a:solidFill>
                  <a:srgbClr val="1A1A2E"/>
                </a:solidFill>
              </a:rPr>
              <a:t>Control Strategy &amp; Safety Architecture</a:t>
            </a:r>
          </a:p>
          <a:p>
            <a:r>
              <a:rPr sz="1100">
                <a:solidFill>
                  <a:srgbClr val="1A1A2E"/>
                </a:solidFill>
              </a:rPr>
              <a:t>Validation Methodology &amp; Results</a:t>
            </a:r>
          </a:p>
          <a:p>
            <a:r>
              <a:rPr sz="1100">
                <a:solidFill>
                  <a:srgbClr val="1A1A2E"/>
                </a:solidFill>
              </a:rPr>
              <a:t>Performance Summary &amp; Lessons Learned</a:t>
            </a:r>
          </a:p>
          <a:p>
            <a:r>
              <a:rPr sz="1100">
                <a:solidFill>
                  <a:srgbClr val="1A1A2E"/>
                </a:solidFill>
              </a:rPr>
              <a:t>Future Work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1">
                <a:solidFill>
                  <a:srgbClr val="E31837"/>
                </a:solidFill>
              </a:rPr>
              <a:t>Autonomous Production Choke Controller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Problem Statement ID: 1367
Title: Autonomous Choke Control
Theme: Smart Automation
Category: Software
Team: Honeywell Hackathon 2026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2E"/>
                </a:solidFill>
              </a:rPr>
              <a:t>5-phase autonomous control pipeline for oil well choke management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r>
              <a:rPr sz="1200">
                <a:solidFill>
                  <a:srgbClr val="1A1A2E"/>
                </a:solidFill>
              </a:rPr>
              <a:t>FOPDT predictive control with 3-step horizon and gain scheduling</a:t>
            </a:r>
          </a:p>
          <a:p>
            <a:r>
              <a:rPr sz="1200">
                <a:solidFill>
                  <a:srgbClr val="1A1A2E"/>
                </a:solidFill>
              </a:rPr>
              <a:t>Automated system identification via 6 open-loop step tests</a:t>
            </a:r>
          </a:p>
          <a:p>
            <a:r>
              <a:rPr sz="1200">
                <a:solidFill>
                  <a:srgbClr val="1A1A2E"/>
                </a:solidFill>
              </a:rPr>
              <a:t>4-layer defense-in-depth safety architecture</a:t>
            </a:r>
          </a:p>
          <a:p>
            <a:r>
              <a:rPr sz="1200">
                <a:solidFill>
                  <a:srgbClr val="1A1A2E"/>
                </a:solidFill>
              </a:rPr>
              <a:t>3-term cost function: J = J_track + 0.01*J_effort - 0.005*J_margin</a:t>
            </a:r>
          </a:p>
          <a:p>
            <a:r>
              <a:rPr sz="1200">
                <a:solidFill>
                  <a:srgbClr val="1A1A2E"/>
                </a:solidFill>
              </a:rPr>
              <a:t>Interactive Streamlit dashboard with Plotly visualization</a:t>
            </a:r>
          </a:p>
          <a:p>
            <a:r>
              <a:rPr sz="1200">
                <a:solidFill>
                  <a:srgbClr val="1A1A2E"/>
                </a:solidFill>
              </a:rPr>
              <a:t>All models identified exclusively from simulator-generated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1100">
                <a:solidFill>
                  <a:srgbClr val="1A1A2E"/>
                </a:solidFill>
              </a:rPr>
              <a:t>Technology: Python 3.12, NumPy, Matplotlib, Plotly, Streamlit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r>
              <a:rPr sz="1100">
                <a:solidFill>
                  <a:srgbClr val="1A1A2E"/>
                </a:solidFill>
              </a:rPr>
              <a:t>Process Model: First-Order Plus Dead Time (FOPDT)</a:t>
            </a:r>
          </a:p>
          <a:p>
            <a:r>
              <a:rPr sz="1100">
                <a:solidFill>
                  <a:srgbClr val="1A1A2E"/>
                </a:solidFill>
              </a:rPr>
              <a:t>Identification: 63.2% graphical method from step tests</a:t>
            </a:r>
          </a:p>
          <a:p>
            <a:r>
              <a:rPr sz="1100">
                <a:solidFill>
                  <a:srgbClr val="1A1A2E"/>
                </a:solidFill>
              </a:rPr>
              <a:t>Optimization: Brute-force candidate search (11-21 moves, &lt;1ms)</a:t>
            </a:r>
          </a:p>
          <a:p>
            <a:r>
              <a:rPr sz="1100">
                <a:solidFill>
                  <a:srgbClr val="1A1A2E"/>
                </a:solidFill>
              </a:rPr>
              <a:t>Safety: 4-layer defense-in-depth with emergency override</a:t>
            </a:r>
          </a:p>
          <a:p>
            <a:r>
              <a:rPr sz="1100">
                <a:solidFill>
                  <a:srgbClr val="1A1A2E"/>
                </a:solidFill>
              </a:rPr>
              <a:t>Gain scheduling: 3 regions [0-35%], [35-65%], [65-100%]</a:t>
            </a:r>
          </a:p>
          <a:p>
            <a:r>
              <a:rPr sz="1100">
                <a:solidFill>
                  <a:srgbClr val="1A1A2E"/>
                </a:solidFill>
              </a:rPr>
              <a:t>Bias correction: Exponential EWMA (alpha=0.3)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controller_pipeline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89120"/>
            <a:ext cx="82296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>
                <a:solidFill>
                  <a:srgbClr val="1A1A2E"/>
                </a:solidFill>
              </a:rPr>
              <a:t>All 3 scenarios validated -- tracking error &lt; 2 bbl/hr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200">
                <a:solidFill>
                  <a:srgbClr val="1A1A2E"/>
                </a:solidFill>
              </a:rPr>
              <a:t>Zero violations in normal operation; correct override at boundary</a:t>
            </a:r>
          </a:p>
          <a:p>
            <a:r>
              <a:rPr sz="1200">
                <a:solidFill>
                  <a:srgbClr val="1A1A2E"/>
                </a:solidFill>
              </a:rPr>
              <a:t>Computationally efficient: candidates evaluated in &lt;1ms</a:t>
            </a:r>
          </a:p>
          <a:p>
            <a:r>
              <a:rPr sz="1200">
                <a:solidFill>
                  <a:srgbClr val="1A1A2E"/>
                </a:solidFill>
              </a:rPr>
              <a:t>Deterministic: seed=42, 243 simulator calls, reproducible</a:t>
            </a:r>
          </a:p>
          <a:p>
            <a:r>
              <a:rPr sz="1200">
                <a:solidFill>
                  <a:srgbClr val="1A1A2E"/>
                </a:solidFill>
              </a:rPr>
              <a:t>Nonlinearity: gain scheduling across 3 operating regions</a:t>
            </a:r>
          </a:p>
          <a:p>
            <a:r>
              <a:rPr sz="1200">
                <a:solidFill>
                  <a:srgbClr val="1A1A2E"/>
                </a:solidFill>
              </a:rPr>
              <a:t>Disturbances: EWMA bias correction + deadband suppression</a:t>
            </a:r>
          </a:p>
          <a:p>
            <a:r>
              <a:rPr sz="1200">
                <a:solidFill>
                  <a:srgbClr val="1A1A2E"/>
                </a:solidFill>
              </a:rPr>
              <a:t>Single boundary violation correctly triggered emergency override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>
                <a:solidFill>
                  <a:srgbClr val="1A1A2E"/>
                </a:solidFill>
              </a:rPr>
              <a:t>Source Code: 17 Python modules, fully documented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</a:p>
          <a:p>
            <a:pPr marL="800100" lvl="1" indent="-342900" algn="just">
              <a:buFont typeface="Arial" panose="020B0604020202020204" pitchFamily="34" charset="0"/>
              <a:buChar char="•"/>
              <a:defRPr/>
            </a:p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200">
                <a:solidFill>
                  <a:srgbClr val="1A1A2E"/>
                </a:solidFill>
              </a:rPr>
              <a:t>Technical Report: 24-section professional PDF</a:t>
            </a:r>
          </a:p>
          <a:p>
            <a:r>
              <a:rPr sz="1200">
                <a:solidFill>
                  <a:srgbClr val="1A1A2E"/>
                </a:solidFill>
              </a:rPr>
              <a:t>Validation Report: Gate-by-gate scenario evaluation</a:t>
            </a:r>
          </a:p>
          <a:p>
            <a:r>
              <a:rPr sz="1200">
                <a:solidFill>
                  <a:srgbClr val="1A1A2E"/>
                </a:solidFill>
              </a:rPr>
              <a:t>Streamlit Dashboard: 8-page interactive monitoring</a:t>
            </a:r>
          </a:p>
          <a:p>
            <a:r>
              <a:rPr sz="1200">
                <a:solidFill>
                  <a:srgbClr val="1A1A2E"/>
                </a:solidFill>
              </a:rPr>
              <a:t>Architecture Diagrams: Pipeline + Safety (PNG)</a:t>
            </a:r>
          </a:p>
          <a:p>
            <a:r>
              <a:rPr sz="1200">
                <a:solidFill>
                  <a:srgbClr val="1A1A2E"/>
                </a:solidFill>
              </a:rPr>
              <a:t>Step Test Analysis: 9 plots across operating range</a:t>
            </a:r>
          </a:p>
          <a:p>
            <a:r>
              <a:rPr sz="1200">
                <a:solidFill>
                  <a:srgbClr val="1A1A2E"/>
                </a:solidFill>
              </a:rPr>
              <a:t>Scenario Plots: 6-panel enhanced figures for A, B, 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afety_defense_in_dep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54880"/>
            <a:ext cx="777240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b="1" dirty="0">
                <a:solidFill>
                  <a:srgbClr val="1A1A2E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200">
                <a:solidFill>
                  <a:srgbClr val="1A1A2E"/>
                </a:solidFill>
              </a:rPr>
              <a:t>Honeywell Problem Statement -- Autonomous Choke Control (2026)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1200">
                <a:solidFill>
                  <a:srgbClr val="1A1A2E"/>
                </a:solidFill>
              </a:rPr>
              <a:t>Seborg et al. -- Process Dynamics and Control (4th Ed., Wiley)</a:t>
            </a:r>
          </a:p>
          <a:p>
            <a:r>
              <a:rPr sz="1200">
                <a:solidFill>
                  <a:srgbClr val="1A1A2E"/>
                </a:solidFill>
              </a:rPr>
              <a:t>Astrom &amp; Hagglund -- Advanced PID Control (ISA, 2006)</a:t>
            </a:r>
          </a:p>
          <a:p>
            <a:r>
              <a:rPr sz="1200">
                <a:solidFill>
                  <a:srgbClr val="1A1A2E"/>
                </a:solidFill>
              </a:rPr>
              <a:t>FOPDT Identification: 63.2% graphical method</a:t>
            </a:r>
          </a:p>
          <a:p>
            <a:r>
              <a:rPr sz="1200">
                <a:solidFill>
                  <a:srgbClr val="1A1A2E"/>
                </a:solidFill>
              </a:rPr>
              <a:t>Bias correction: EWMA filtering for offset-free MPC</a:t>
            </a:r>
          </a:p>
          <a:p>
            <a:r>
              <a:rPr sz="1200">
                <a:solidFill>
                  <a:srgbClr val="1A1A2E"/>
                </a:solidFill>
              </a:rPr>
              <a:t>Gain scheduling: Multi-region linear models for nonlinear processes</a:t>
            </a:r>
          </a:p>
          <a:p>
            <a:r>
              <a:rPr sz="1200">
                <a:solidFill>
                  <a:srgbClr val="1A1A2E"/>
                </a:solidFill>
              </a:rPr>
              <a:t>Safety: IEC 61511 principles for process constraint enforcement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Oil well production choke: primary control actuator between reservoir and surface</a:t>
            </a:r>
          </a:p>
          <a:p>
            <a:r>
              <a:rPr sz="1200">
                <a:solidFill>
                  <a:srgbClr val="1A1A2E"/>
                </a:solidFill>
              </a:rPr>
              <a:t>4 coupled process variables: Oil Rate (Q), WHP, FLP, BHP</a:t>
            </a:r>
          </a:p>
          <a:p>
            <a:r>
              <a:rPr sz="1200">
                <a:solidFill>
                  <a:srgbClr val="1A1A2E"/>
                </a:solidFill>
              </a:rPr>
              <a:t>Choke UP -&gt; Q UP, WHP DOWN, FLP DOWN, BHP DOWN</a:t>
            </a:r>
          </a:p>
          <a:p>
            <a:r>
              <a:rPr sz="1200">
                <a:solidFill>
                  <a:srgbClr val="1A1A2E"/>
                </a:solidFill>
              </a:rPr>
              <a:t>Choke DOWN -&gt; Q DOWN, WHP UP, FLP UP, BHP UP</a:t>
            </a:r>
          </a:p>
          <a:p>
            <a:r>
              <a:rPr sz="1200">
                <a:solidFill>
                  <a:srgbClr val="1A1A2E"/>
                </a:solidFill>
              </a:rPr>
              <a:t>Hard pressure constraints must never be violated</a:t>
            </a:r>
          </a:p>
          <a:p>
            <a:r>
              <a:rPr sz="1200">
                <a:solidFill>
                  <a:srgbClr val="1A1A2E"/>
                </a:solidFill>
              </a:rPr>
              <a:t>1-hour control interval, +/-5% max choke movement per step</a:t>
            </a:r>
          </a:p>
          <a:p>
            <a:r>
              <a:rPr sz="1200">
                <a:solidFill>
                  <a:srgbClr val="1A1A2E"/>
                </a:solidFill>
              </a:rPr>
              <a:t>Objective: Maximize production while respecting all constraints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BACKGROUND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Choke valve controls flow rate and wellbore pressure simultaneously</a:t>
            </a:r>
          </a:p>
          <a:p>
            <a:r>
              <a:rPr sz="1200">
                <a:solidFill>
                  <a:srgbClr val="1A1A2E"/>
                </a:solidFill>
              </a:rPr>
              <a:t>Opening choke: increases revenue, decreases all pressures</a:t>
            </a:r>
          </a:p>
          <a:p>
            <a:r>
              <a:rPr sz="1200">
                <a:solidFill>
                  <a:srgbClr val="1A1A2E"/>
                </a:solidFill>
              </a:rPr>
              <a:t>Closing choke: conserves reservoir energy, reduces production</a:t>
            </a:r>
          </a:p>
          <a:p>
            <a:r>
              <a:rPr sz="1200">
                <a:solidFill>
                  <a:srgbClr val="1A1A2E"/>
                </a:solidFill>
              </a:rPr>
              <a:t>Classic constrained optimization: maximize Q subject to WHP/FLP/BHP limits</a:t>
            </a:r>
          </a:p>
          <a:p>
            <a:r>
              <a:rPr sz="1200">
                <a:solidFill>
                  <a:srgbClr val="1A1A2E"/>
                </a:solidFill>
              </a:rPr>
              <a:t>Key Assumptions: Linear FOPDT per region, hard constraints, Gaussian noise, consistent gain signs, step tests acceptable during commissioning</a:t>
            </a:r>
          </a:p>
          <a:p>
            <a:r>
              <a:rPr sz="1200">
                <a:solidFill>
                  <a:srgbClr val="1A1A2E"/>
                </a:solidFill>
              </a:rPr>
              <a:t>1-hour interval typical for remote well sites with limited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OPEN-LOOP STEP TEST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6 step tests at choke positions [10, 20, 30, 50, 70, 80] with +10% steps</a:t>
            </a:r>
          </a:p>
          <a:p>
            <a:r>
              <a:rPr sz="1100">
                <a:solidFill>
                  <a:srgbClr val="1A1A2E"/>
                </a:solidFill>
              </a:rPr>
              <a:t>Protocol: Settle 5 steps -&gt; Step +10% -&gt; Record 10-step transient</a:t>
            </a:r>
          </a:p>
          <a:p>
            <a:r>
              <a:rPr sz="1100">
                <a:solidFill>
                  <a:srgbClr val="1A1A2E"/>
                </a:solidFill>
              </a:rPr>
              <a:t>90 total TestSimulator calls; all data from simulator (NOT reference dataset)</a:t>
            </a:r>
          </a:p>
          <a:p>
            <a:r>
              <a:rPr sz="1100">
                <a:solidFill>
                  <a:srgbClr val="1A1A2E"/>
                </a:solidFill>
              </a:rPr>
              <a:t>Consistent FOPDT-like first-order responses observed across all operating points</a:t>
            </a:r>
          </a:p>
          <a:p>
            <a:r>
              <a:rPr sz="1100">
                <a:solidFill>
                  <a:srgbClr val="1A1A2E"/>
                </a:solidFill>
              </a:rPr>
              <a:t>Varying steady-state gains indicate mild nonlinearity -&gt; gain scheduling required</a:t>
            </a:r>
          </a:p>
          <a:p>
            <a:r>
              <a:rPr sz="1100">
                <a:solidFill>
                  <a:srgbClr val="1A1A2E"/>
                </a:solidFill>
              </a:rPr>
              <a:t>No dead time detected (fast response relative to 1-hour sampling interval)</a:t>
            </a:r>
          </a:p>
        </p:txBody>
      </p:sp>
      <p:pic>
        <p:nvPicPr>
          <p:cNvPr id="5" name="Picture 4" descr="step_test_summary_all_6_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657600"/>
            <a:ext cx="85953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MODEL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FOPDT Model: G(s) = K*exp(-theta*s) / (tau*s + 1)</a:t>
            </a:r>
          </a:p>
          <a:p>
            <a:r>
              <a:rPr sz="1100">
                <a:solidFill>
                  <a:srgbClr val="1A1A2E"/>
                </a:solidFill>
              </a:rPr>
              <a:t>Discrete: y(k+1) = a*y(k) + b*u(k-d) + c,  a=exp(-Ts/tau), b=K*(1-a)</a:t>
            </a:r>
          </a:p>
          <a:p>
            <a:r>
              <a:rPr sz="1100">
                <a:solidFill>
                  <a:srgbClr val="1A1A2E"/>
                </a:solidFill>
              </a:rPr>
              <a:t>63.2% Graphical Method: K = delta_y_ss/delta_u, tau = time to 63.2%, theta = first response &gt; 5% threshold</a:t>
            </a:r>
          </a:p>
          <a:p>
            <a:r>
              <a:rPr sz="1100">
                <a:solidFill>
                  <a:srgbClr val="1A1A2E"/>
                </a:solidFill>
              </a:rPr>
              <a:t>Averaged across all 6 tests for a single global model</a:t>
            </a:r>
          </a:p>
          <a:p>
            <a:r>
              <a:rPr sz="1100">
                <a:solidFill>
                  <a:srgbClr val="1A1A2E"/>
                </a:solidFill>
              </a:rPr>
              <a:t>Q: K=+2.02 tau=1.0h | WHP: K=-3.00 tau=1.0h | FLP: K=-2.02 tau=1.0h | BHP: K=-4.13 tau=2.0h</a:t>
            </a:r>
          </a:p>
          <a:p>
            <a:r>
              <a:rPr sz="1100">
                <a:solidFill>
                  <a:srgbClr val="1A1A2E"/>
                </a:solidFill>
              </a:rPr>
              <a:t>Close match to known simulator dynamics confirms identification accuracy</a:t>
            </a:r>
          </a:p>
          <a:p>
            <a:r>
              <a:rPr sz="1100">
                <a:solidFill>
                  <a:srgbClr val="1A1A2E"/>
                </a:solidFill>
              </a:rPr>
              <a:t>All identification data from TestSimulator step tests ONLY</a:t>
            </a:r>
          </a:p>
        </p:txBody>
      </p:sp>
      <p:pic>
        <p:nvPicPr>
          <p:cNvPr id="5" name="Picture 4" descr="gai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840480"/>
            <a:ext cx="4572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Phase 1 - Perception: 20-step rolling history, EWMA bias (alpha=0.3), SS detection, safety proximity</a:t>
            </a:r>
          </a:p>
          <a:p>
            <a:r>
              <a:rPr sz="1000">
                <a:solidFill>
                  <a:srgbClr val="1A1A2E"/>
                </a:solidFill>
              </a:rPr>
              <a:t>Phase 2 - Targeting: STARTUP -&gt; TRACKING (|error|&lt;2%) -&gt; INFEASIBLE (SS unreachable)</a:t>
            </a:r>
          </a:p>
          <a:p>
            <a:r>
              <a:rPr sz="1000">
                <a:solidFill>
                  <a:srgbClr val="1A1A2E"/>
                </a:solidFill>
              </a:rPr>
              <a:t>Phase 3 - Prediction: Brute-force grid +/-5%, 1.0% coarse/0.5% fine resolution, FOPDT Np=3, gain scheduling</a:t>
            </a:r>
          </a:p>
          <a:p>
            <a:r>
              <a:rPr sz="1000">
                <a:solidFill>
                  <a:srgbClr val="1A1A2E"/>
                </a:solidFill>
              </a:rPr>
              <a:t>Phase 4 - Safety: Tightened constraints (+5% margin), per-step trajectory + SS validation, emergency override</a:t>
            </a:r>
          </a:p>
          <a:p>
            <a:r>
              <a:rPr sz="1000">
                <a:solidFill>
                  <a:srgbClr val="1A1A2E"/>
                </a:solidFill>
              </a:rPr>
              <a:t>Phase 5 - Selection: 3-term cost J=J_track+0.01*J_effort-0.005*J_margin, deadband, least-infeasible fallback</a:t>
            </a:r>
          </a:p>
          <a:p>
            <a:r>
              <a:rPr sz="1000">
                <a:solidFill>
                  <a:srgbClr val="1A1A2E"/>
                </a:solidFill>
              </a:rPr>
              <a:t>Cost: J_track=((Q_pred-Q_target)/Q_range)^2 [tracking], =-(Q_pred/Q_range) [infeasible max production]</a:t>
            </a:r>
          </a:p>
          <a:p>
            <a:r>
              <a:rPr sz="1000">
                <a:solidFill>
                  <a:srgbClr val="1A1A2E"/>
                </a:solidFill>
              </a:rPr>
              <a:t>Deadband: J_track=0 within 1% Q_range. WARNING: ramp 5%-&gt;2%. EMERGENCY: bypass optimizer, +/-5% override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Layer 1 - Proximity Detection: Normalized margin to constraints -&gt; NORMAL/CAUTION/WARNING/EMERGENCY</a:t>
            </a:r>
          </a:p>
          <a:p>
            <a:r>
              <a:rPr sz="1100">
                <a:solidFill>
                  <a:srgbClr val="1A1A2E"/>
                </a:solidFill>
              </a:rPr>
              <a:t>Layer 2 - Tightened Constraints: +5% margin buffer on all limits (tightened = limit +/- 5%*range)</a:t>
            </a:r>
          </a:p>
          <a:p>
            <a:r>
              <a:rPr sz="1100">
                <a:solidFill>
                  <a:srgbClr val="1A1A2E"/>
                </a:solidFill>
              </a:rPr>
              <a:t>Layer 3 - Trajectory Checking: Every predicted step AND steady-state validated against tightened limits</a:t>
            </a:r>
          </a:p>
          <a:p>
            <a:r>
              <a:rPr sz="1100">
                <a:solidFill>
                  <a:srgbClr val="1A1A2E"/>
                </a:solidFill>
              </a:rPr>
              <a:t>Layer 4 - Emergency Override: Hard limit violation -&gt; immediate +/-5% correction, bypasses optimizer</a:t>
            </a:r>
          </a:p>
          <a:p>
            <a:r>
              <a:rPr sz="1100">
                <a:solidFill>
                  <a:srgbClr val="1A1A2E"/>
                </a:solidFill>
              </a:rPr>
              <a:t>Design principle: No single layer failure can cause a constraint violation</a:t>
            </a:r>
          </a:p>
        </p:txBody>
      </p:sp>
      <p:pic>
        <p:nvPicPr>
          <p:cNvPr id="5" name="Picture 4" descr="safety_defense_in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474720"/>
            <a:ext cx="859536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Three scenarios against TestSimulator (seed=42, deterministic):</a:t>
            </a:r>
          </a:p>
          <a:p>
            <a:r>
              <a:rPr sz="1200">
                <a:solidFill>
                  <a:srgbClr val="1A1A2E"/>
                </a:solidFill>
              </a:rPr>
              <a:t>Scenario A: Constant Target Q=80 bbl/hr, 50 steps -- tests steady-state tracking</a:t>
            </a:r>
          </a:p>
          <a:p>
            <a:r>
              <a:rPr sz="1200">
                <a:solidFill>
                  <a:srgbClr val="1A1A2E"/>
                </a:solidFill>
              </a:rPr>
              <a:t>Scenario B: Target Change Q=60-&gt;120 at step 26 -- tests setpoint transition</a:t>
            </a:r>
          </a:p>
          <a:p>
            <a:r>
              <a:rPr sz="1200">
                <a:solidFill>
                  <a:srgbClr val="1A1A2E"/>
                </a:solidFill>
              </a:rPr>
              <a:t>Scenario C: Infeasible Target Q=250 bbl/hr -- tests constraint-limited max production</a:t>
            </a:r>
          </a:p>
          <a:p>
            <a:r>
              <a:rPr sz="1200">
                <a:solidFill>
                  <a:srgbClr val="1A1A2E"/>
                </a:solidFill>
              </a:rPr>
              <a:t>Five Validation Gates: G1-Constraint, G2-Choke Range, G3-Tracking, G4-Mode, G5-Feasibility</a:t>
            </a:r>
          </a:p>
          <a:p>
            <a:r>
              <a:rPr sz="1200">
                <a:solidFill>
                  <a:srgbClr val="1A1A2E"/>
                </a:solidFill>
              </a:rPr>
              <a:t>All performance metrics computed from simulator-generated logs (243 total calls)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SCENARIO A -- CONSTANT TARGET (Q=80)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Final Q=80.9 bbl/hr, Tracking Error=0.9 bbl/hr (1.1%), 0 EMERGENCY violations</a:t>
            </a:r>
          </a:p>
          <a:p>
            <a:r>
              <a:rPr sz="1200">
                <a:solidFill>
                  <a:srgbClr val="1A1A2E"/>
                </a:solidFill>
              </a:rPr>
              <a:t>Choke ramped 10%-&gt;40.5% over 7 steps, deadband suppressed movement for 40+ steps</a:t>
            </a:r>
          </a:p>
          <a:p>
            <a:r>
              <a:rPr sz="1200">
                <a:solidFill>
                  <a:srgbClr val="1A1A2E"/>
                </a:solidFill>
              </a:rPr>
              <a:t>PASS: All 5 validation gates. Fine resolution (0.5%) active near target.</a:t>
            </a:r>
          </a:p>
        </p:txBody>
      </p:sp>
      <p:pic>
        <p:nvPicPr>
          <p:cNvPr id="5" name="Picture 4" descr="scenario_a_constant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SCENARIO B -- TARGET CHANGE (60-&gt;120)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Final Q=120.9, Error=0.9 bbl/hr (0.8%), 0 violations, smooth 7-step transition</a:t>
            </a:r>
          </a:p>
          <a:p>
            <a:r>
              <a:rPr sz="1200">
                <a:solidFill>
                  <a:srgbClr val="1A1A2E"/>
                </a:solidFill>
              </a:rPr>
              <a:t>Choke 30.5%-&gt;60.5%, no overshoot, mode correctly transitioned STARTUP-&gt;TRACKING</a:t>
            </a:r>
          </a:p>
          <a:p>
            <a:r>
              <a:rPr sz="1200">
                <a:solidFill>
                  <a:srgbClr val="1A1A2E"/>
                </a:solidFill>
              </a:rPr>
              <a:t>PASS: All 5 validation gates. Both Q=60 and Q=120 tracked within 1.4 bbl/hr.</a:t>
            </a:r>
          </a:p>
        </p:txBody>
      </p:sp>
      <p:pic>
        <p:nvPicPr>
          <p:cNvPr id="5" name="Picture 4" descr="scenario_b_target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SCENARIO C -- INFEASIBLE TARGET (Q=250)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Max safe Q=185.9 bbl/hr at choke=93%. 1 emergency override at step 19 (BHP boundary)</a:t>
            </a:r>
          </a:p>
          <a:p>
            <a:r>
              <a:rPr sz="1200">
                <a:solidFill>
                  <a:srgbClr val="1A1A2E"/>
                </a:solidFill>
              </a:rPr>
              <a:t>Controller ramped to 94%, BHP noise triggered override -&gt; retracted to 93% safe position</a:t>
            </a:r>
          </a:p>
          <a:p>
            <a:r>
              <a:rPr sz="1200">
                <a:solidFill>
                  <a:srgbClr val="1A1A2E"/>
                </a:solidFill>
              </a:rPr>
              <a:t>PASS: Safety system functioned correctly. Controller maximized production at constraint edge.</a:t>
            </a:r>
          </a:p>
        </p:txBody>
      </p:sp>
      <p:pic>
        <p:nvPicPr>
          <p:cNvPr id="5" name="Picture 4" descr="scenario_c_infeasible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85953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A1A2E"/>
                </a:solidFill>
              </a:rPr>
              <a:t>Tracking: A: 0.9 bbl/hr (1.1%), B: 0.9 bbl/hr (0.8%), C: 64 bbl/hr (infeasible by design)</a:t>
            </a:r>
          </a:p>
          <a:p>
            <a:r>
              <a:rPr sz="1200">
                <a:solidFill>
                  <a:srgbClr val="1A1A2E"/>
                </a:solidFill>
              </a:rPr>
              <a:t>Constraints: A,B: 0 violations. C: 1 violation at BHP edge, correctly managed by safety override</a:t>
            </a:r>
          </a:p>
          <a:p>
            <a:r>
              <a:rPr sz="1200">
                <a:solidFill>
                  <a:srgbClr val="1A1A2E"/>
                </a:solidFill>
              </a:rPr>
              <a:t>Safety: All 4 layers verified. Emergency override triggered and recovered correctly.</a:t>
            </a:r>
          </a:p>
          <a:p>
            <a:r>
              <a:rPr sz="1200">
                <a:solidFill>
                  <a:srgbClr val="1A1A2E"/>
                </a:solidFill>
              </a:rPr>
              <a:t>Reproducibility: 243 simulator calls at seed=42, deterministic and fully reproducible</a:t>
            </a:r>
          </a:p>
          <a:p>
            <a:r>
              <a:rPr sz="1200">
                <a:solidFill>
                  <a:srgbClr val="1A1A2E"/>
                </a:solidFill>
              </a:rPr>
              <a:t>Average feasible candidates: 21/21 (A,B - fine resolution), 3-5/5-11 (C - boundary-tightened)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FOPDT from 6 step tests provides adequate accuracy; 63.2% method matches known simulator dynamics</a:t>
            </a:r>
          </a:p>
          <a:p>
            <a:r>
              <a:rPr sz="1100">
                <a:solidFill>
                  <a:srgbClr val="1A1A2E"/>
                </a:solidFill>
              </a:rPr>
              <a:t>Bias correction (alpha=0.3) is essential for offset-free tracking with imperfect models</a:t>
            </a:r>
          </a:p>
          <a:p>
            <a:r>
              <a:rPr sz="1100">
                <a:solidFill>
                  <a:srgbClr val="1A1A2E"/>
                </a:solidFill>
              </a:rPr>
              <a:t>Fine resolution (0.5%) near targets reduces chatter; coarse (1.0%) keeps candidates manageable</a:t>
            </a:r>
          </a:p>
          <a:p>
            <a:r>
              <a:rPr sz="1100">
                <a:solidFill>
                  <a:srgbClr val="1A1A2E"/>
                </a:solidFill>
              </a:rPr>
              <a:t>5% safety margin on tightened constraints prevents operation at constraint edge</a:t>
            </a:r>
          </a:p>
          <a:p>
            <a:r>
              <a:rPr sz="1100">
                <a:solidFill>
                  <a:srgbClr val="1A1A2E"/>
                </a:solidFill>
              </a:rPr>
              <a:t>Deadband suppression is critical for industrial acceptance -- operators reject unnecessary movement</a:t>
            </a:r>
          </a:p>
          <a:p>
            <a:r>
              <a:rPr sz="1100">
                <a:solidFill>
                  <a:srgbClr val="1A1A2E"/>
                </a:solidFill>
              </a:rPr>
              <a:t>Gain scheduling with simple regions handles nonlinearity without complex nonlinear models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Online model adaptation: RLS with forgetting factor to update FOPDT as conditions change</a:t>
            </a:r>
          </a:p>
          <a:p>
            <a:r>
              <a:rPr sz="1100">
                <a:solidFill>
                  <a:srgbClr val="1A1A2E"/>
                </a:solidFill>
              </a:rPr>
              <a:t>Soft constraints: Exponential penalty replacing hard binary rejection for gradual limit approach</a:t>
            </a:r>
          </a:p>
          <a:p>
            <a:r>
              <a:rPr sz="1100">
                <a:solidFill>
                  <a:srgbClr val="1A1A2E"/>
                </a:solidFill>
              </a:rPr>
              <a:t>Disturbance feedforward: Model reservoir pressure decline for preemptive control</a:t>
            </a:r>
          </a:p>
          <a:p>
            <a:r>
              <a:rPr sz="1100">
                <a:solidFill>
                  <a:srgbClr val="1A1A2E"/>
                </a:solidFill>
              </a:rPr>
              <a:t>Multi-well coordination: Extend to optimize across wells sharing surface facilities</a:t>
            </a:r>
          </a:p>
          <a:p>
            <a:r>
              <a:rPr sz="1100">
                <a:solidFill>
                  <a:srgbClr val="1A1A2E"/>
                </a:solidFill>
              </a:rPr>
              <a:t>OPC-UA integration: Connect to Honeywell Experion DCS for real-time industrial deployment</a:t>
            </a:r>
          </a:p>
          <a:p>
            <a:r>
              <a:rPr sz="1100">
                <a:solidFill>
                  <a:srgbClr val="1A1A2E"/>
                </a:solidFill>
              </a:rPr>
              <a:t>Sensor fault detection: Cross-validate redundant measurements to mitigate failures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The Autonomous Choke Controller meets all Honeywell Hackathon requirements</a:t>
            </a:r>
          </a:p>
          <a:p>
            <a:r>
              <a:rPr sz="1100">
                <a:solidFill>
                  <a:srgbClr val="1A1A2E"/>
                </a:solidFill>
              </a:rPr>
              <a:t>5-phase sequential architecture with 4-layer defense-in-depth safety</a:t>
            </a:r>
          </a:p>
          <a:p>
            <a:r>
              <a:rPr sz="1100">
                <a:solidFill>
                  <a:srgbClr val="1A1A2E"/>
                </a:solidFill>
              </a:rPr>
              <a:t>Automatic commissioning: step tests -&gt; FOPDT identification -&gt; control in one pipeline</a:t>
            </a:r>
          </a:p>
          <a:p>
            <a:r>
              <a:rPr sz="1100">
                <a:solidFill>
                  <a:srgbClr val="1A1A2E"/>
                </a:solidFill>
              </a:rPr>
              <a:t>Offset-free tracking via EWMA bias correction; nonlinearity via gain scheduling</a:t>
            </a:r>
          </a:p>
          <a:p>
            <a:r>
              <a:rPr sz="1100">
                <a:solidFill>
                  <a:srgbClr val="1A1A2E"/>
                </a:solidFill>
              </a:rPr>
              <a:t>Graceful degradation under infeasible targets -&gt; maximum safe production</a:t>
            </a:r>
          </a:p>
          <a:p>
            <a:r>
              <a:rPr sz="1100">
                <a:solidFill>
                  <a:srgbClr val="1A1A2E"/>
                </a:solidFill>
              </a:rPr>
              <a:t>Full explainability: every action logged with cost, reason, candidate evaluation</a:t>
            </a:r>
          </a:p>
          <a:p>
            <a:r>
              <a:rPr sz="1100">
                <a:solidFill>
                  <a:srgbClr val="1A1A2E"/>
                </a:solidFill>
              </a:rPr>
              <a:t>All models from simulator data only. Reference dataset = post-hoc check only.</a:t>
            </a:r>
          </a:p>
          <a:p>
            <a:r>
              <a:rPr sz="1100">
                <a:solidFill>
                  <a:srgbClr val="1A1A2E"/>
                </a:solidFill>
              </a:rPr>
              <a:t>Ready for integration with Honeywell process simulator and field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